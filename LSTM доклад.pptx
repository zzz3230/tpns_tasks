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335" r:id="rId5"/>
    <p:sldId id="343" r:id="rId6"/>
    <p:sldId id="355" r:id="rId7"/>
    <p:sldId id="356" r:id="rId8"/>
    <p:sldId id="357" r:id="rId9"/>
    <p:sldId id="358" r:id="rId10"/>
    <p:sldId id="348" r:id="rId11"/>
    <p:sldId id="350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0DB60060-8964-4C1F-84E6-815C727D6D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F2367B-BF1A-4A12-A752-37CB554E2B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42627-8441-4D86-BD99-16B66AA96C05}" type="datetime1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9F0E87-F0AE-4922-961D-D379262029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513BBD-6E34-4934-BD45-45C294FC9B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B8CE7-B6C1-4137-96AD-FF4C29E3CF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896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9D16AB0-9EC1-4B00-8DA2-016A7EF748EC}" type="datetime1">
              <a:rPr lang="ru-RU" noProof="0" smtClean="0"/>
              <a:t>27.04.2026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1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2137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2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50381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FF464-4969-E6CF-6AAF-72BC5C70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B48A42-A8B9-6930-C3B5-52157861C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DE7B29-47EB-B5F8-B7D2-4356E5B8C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F1E89E-EA69-DB60-512B-DB279E1D9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41921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2367-E88C-7682-7C72-312BB658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6D75EC-49E5-38B9-3A0F-094683C07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AFB890A-6254-B2A8-3D7D-BE1A395D9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86247A-9FCA-89BD-7828-56560CC4A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4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68996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7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21311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ru-RU" noProof="0" smtClean="0"/>
              <a:t>8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6510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зван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ru-RU" noProof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ru-RU" noProof="0"/>
              <a:t>Щелкните, чтобы изменить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ru-RU" noProof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sp>
        <p:nvSpPr>
          <p:cNvPr id="13" name="Нижний колонтитул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noProof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ru-RU" noProof="0"/>
          </a:p>
        </p:txBody>
      </p:sp>
      <p:sp>
        <p:nvSpPr>
          <p:cNvPr id="10" name="Заполнитель диаграммы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Дата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ru-RU" noProof="0"/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ru-RU" noProof="0"/>
              <a:t>Щелкните значок, чтобы добавить таблицу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Дата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ru-RU" noProof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 rtlCol="0"/>
          <a:lstStyle>
            <a:lvl1pPr>
              <a:defRPr sz="20000"/>
            </a:lvl1pPr>
          </a:lstStyle>
          <a:p>
            <a:pPr rtl="0"/>
            <a:r>
              <a:rPr lang="ru-RU" noProof="0"/>
              <a:t>"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7" name="Рисунок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8" name="Рисунок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9" name="Рисунок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0" name="Рисунок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Текст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бъект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Текст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бъект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19" name="Объект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rtlCol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Текст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>
                <a:latin typeface="+mj-lt"/>
              </a:defRPr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Объект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3 сентября 20XX г. </a:t>
            </a:r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27383" y="6294120"/>
            <a:ext cx="1833585" cy="181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>
                <a:solidFill>
                  <a:schemeClr val="bg1"/>
                </a:solidFill>
              </a:rPr>
              <a:t>Ежегодный обзор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7782931A-7D25-4B4B-9464-57AE418934A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C99CF7C-AFAB-48F1-8FC3-CCCE989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rtlCol="0" anchor="b"/>
          <a:lstStyle/>
          <a:p>
            <a:r>
              <a:rPr lang="ru-RU">
                <a:solidFill>
                  <a:srgbClr val="000000"/>
                </a:solidFill>
              </a:rPr>
              <a:t>Архитектура LSTM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02E66-DFE9-6A58-EE75-D7333625B4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>
                <a:solidFill>
                  <a:srgbClr val="000000"/>
                </a:solidFill>
              </a:rPr>
              <a:t>Что такое LSTM и зачем она нужна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0" tIns="0" rIns="0" bIns="0" rtlCol="0" anchor="t"/>
          <a:lstStyle/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LSTM (Long </a:t>
            </a:r>
            <a:r>
              <a:rPr lang="ru-RU" dirty="0" err="1">
                <a:solidFill>
                  <a:srgbClr val="000000"/>
                </a:solidFill>
                <a:ea typeface="+mn-lt"/>
                <a:cs typeface="+mn-lt"/>
              </a:rPr>
              <a:t>Short-Term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 Memory) — архитектура рекуррентных сетей (RNN)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Работает с последовательностями: текст, временные ряды, аудио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Цель: лучше учитывать долгие зависимости во времени</a:t>
            </a:r>
            <a:endParaRPr lang="ru-RU" dirty="0"/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Решает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проблему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затухающего/взрывающегося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градиента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в обычных RNN</a:t>
            </a:r>
            <a:endParaRPr lang="ru-RU" dirty="0"/>
          </a:p>
        </p:txBody>
      </p:sp>
      <p:pic>
        <p:nvPicPr>
          <p:cNvPr id="2050" name="Picture 2" descr="The Complete LSTM Tutorial With Implementation - Analytics Vidhya">
            <a:extLst>
              <a:ext uri="{FF2B5EF4-FFF2-40B4-BE49-F238E27FC236}">
                <a16:creationId xmlns:a16="http://schemas.microsoft.com/office/drawing/2014/main" id="{07F34E7B-C41F-3098-F8F9-091FB292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717" y="1989056"/>
            <a:ext cx="6675198" cy="370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FDC0-C2F9-5E87-68AB-A2C3ACB6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78CCD-7E9F-0A00-2D3D-6F1CB27C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dirty="0"/>
              <a:t>Вентили (</a:t>
            </a:r>
            <a:r>
              <a:rPr lang="en-US" dirty="0"/>
              <a:t>gates)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2EDD623-4277-5469-FFAA-C4782F7D6DB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lIns="0" tIns="0" rIns="0" bIns="0" rtlCol="0" anchor="t"/>
              <a:lstStyle/>
              <a:p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LSTM </a:t>
                </a:r>
                <a:r>
                  <a:rPr lang="ru-RU" dirty="0">
                    <a:solidFill>
                      <a:srgbClr val="000000"/>
                    </a:solidFill>
                    <a:ea typeface="+mn-lt"/>
                    <a:cs typeface="+mn-lt"/>
                  </a:rPr>
                  <a:t>управляет памятью через вентили (</a:t>
                </a:r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sigmoid)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Forget gate Fₜ - </a:t>
                </a:r>
                <a:r>
                  <a:rPr lang="ru-RU" dirty="0">
                    <a:solidFill>
                      <a:srgbClr val="000000"/>
                    </a:solidFill>
                    <a:ea typeface="+mn-lt"/>
                    <a:cs typeface="+mn-lt"/>
                  </a:rPr>
                  <a:t>что забыть из </a:t>
                </a:r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cₜ₋₁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Input gate Iₜ - </a:t>
                </a:r>
                <a:r>
                  <a:rPr lang="ru-RU" dirty="0">
                    <a:solidFill>
                      <a:srgbClr val="000000"/>
                    </a:solidFill>
                    <a:ea typeface="+mn-lt"/>
                    <a:cs typeface="+mn-lt"/>
                  </a:rPr>
                  <a:t>сколько записать нового</a:t>
                </a:r>
              </a:p>
              <a:p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Output gate Oₜ - </a:t>
                </a:r>
                <a:r>
                  <a:rPr lang="ru-RU" dirty="0">
                    <a:solidFill>
                      <a:srgbClr val="000000"/>
                    </a:solidFill>
                    <a:ea typeface="+mn-lt"/>
                    <a:cs typeface="+mn-lt"/>
                  </a:rPr>
                  <a:t>что вывести как </a:t>
                </a:r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hₜ</a:t>
                </a:r>
              </a:p>
              <a:p>
                <a:r>
                  <a:rPr lang="ru-RU" dirty="0">
                    <a:solidFill>
                      <a:srgbClr val="000000"/>
                    </a:solidFill>
                    <a:ea typeface="+mn-lt"/>
                    <a:cs typeface="+mn-lt"/>
                  </a:rPr>
                  <a:t>Кандидат памяти: </a:t>
                </a:r>
                <a:r>
                  <a:rPr lang="en-US" dirty="0">
                    <a:solidFill>
                      <a:srgbClr val="000000"/>
                    </a:solidFill>
                    <a:ea typeface="+mn-lt"/>
                    <a:cs typeface="+mn-lt"/>
                  </a:rPr>
                  <a:t>Cₜ (tanh</a:t>
                </a:r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>
                  <a:solidFill>
                    <a:srgbClr val="000000"/>
                  </a:solidFill>
                  <a:ea typeface="+mn-lt"/>
                  <a:cs typeface="+mn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2EDD623-4277-5469-FFAA-C4782F7D6D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3000"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1C6E8BA-EEAC-395E-7F8C-E7BB05116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094" y="3429000"/>
            <a:ext cx="6434187" cy="3321999"/>
          </a:xfrm>
          <a:prstGeom prst="rect">
            <a:avLst/>
          </a:prstGeom>
        </p:spPr>
      </p:pic>
      <p:pic>
        <p:nvPicPr>
          <p:cNvPr id="1036" name="Picture 12" descr="Image of sigmoid vs tanh functions">
            <a:extLst>
              <a:ext uri="{FF2B5EF4-FFF2-40B4-BE49-F238E27FC236}">
                <a16:creationId xmlns:a16="http://schemas.microsoft.com/office/drawing/2014/main" id="{321F6D88-4EDC-0CE8-CC23-42D7A228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1787"/>
            <a:ext cx="5314948" cy="295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426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236F-C6FB-6DB0-2BFA-8242EAFC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B4618-073C-3477-ED0C-F0DE0721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999068"/>
            <a:ext cx="5391979" cy="645284"/>
          </a:xfrm>
        </p:spPr>
        <p:txBody>
          <a:bodyPr rtlCol="0"/>
          <a:lstStyle/>
          <a:p>
            <a:r>
              <a:rPr lang="ru-RU" dirty="0"/>
              <a:t>Формулы обновления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5175F3-BBA2-071C-2CFD-5EF4923A15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0" tIns="0" rIns="0" bIns="0" rtlCol="0" anchor="t"/>
          <a:lstStyle/>
          <a:p>
            <a:r>
              <a:rPr lang="ru-RU" dirty="0"/>
              <a:t>Забывание и запись в память:</a:t>
            </a:r>
          </a:p>
          <a:p>
            <a:pPr lvl="1"/>
            <a:r>
              <a:rPr lang="en-US" b="1" dirty="0"/>
              <a:t>C</a:t>
            </a:r>
            <a:r>
              <a:rPr lang="ru-RU" b="1" dirty="0"/>
              <a:t>ₜ = </a:t>
            </a:r>
            <a:r>
              <a:rPr lang="en-US" b="1" dirty="0"/>
              <a:t>F</a:t>
            </a:r>
            <a:r>
              <a:rPr lang="ru-RU" b="1" dirty="0"/>
              <a:t>ₜ ⊙ </a:t>
            </a:r>
            <a:r>
              <a:rPr lang="en-US" b="1" dirty="0"/>
              <a:t>C</a:t>
            </a:r>
            <a:r>
              <a:rPr lang="ru-RU" b="1" dirty="0"/>
              <a:t>ₜ₋₁ + </a:t>
            </a:r>
            <a:r>
              <a:rPr lang="en-US" b="1" dirty="0"/>
              <a:t>I</a:t>
            </a:r>
            <a:r>
              <a:rPr lang="ru-RU" b="1" dirty="0"/>
              <a:t>ₜ ⊙ </a:t>
            </a:r>
            <a:r>
              <a:rPr lang="en-US" b="1" dirty="0"/>
              <a:t>C</a:t>
            </a:r>
            <a:r>
              <a:rPr lang="ru-RU" b="1" dirty="0"/>
              <a:t>ₜ</a:t>
            </a:r>
            <a:endParaRPr lang="ru-RU" dirty="0"/>
          </a:p>
          <a:p>
            <a:r>
              <a:rPr lang="ru-RU" dirty="0"/>
              <a:t>Выход:</a:t>
            </a:r>
          </a:p>
          <a:p>
            <a:pPr lvl="1"/>
            <a:r>
              <a:rPr lang="ru-RU" b="1" dirty="0"/>
              <a:t>hₜ = </a:t>
            </a:r>
            <a:r>
              <a:rPr lang="en-US" b="1" dirty="0"/>
              <a:t>O</a:t>
            </a:r>
            <a:r>
              <a:rPr lang="ru-RU" b="1" dirty="0"/>
              <a:t>ₜ ⊙ </a:t>
            </a:r>
            <a:r>
              <a:rPr lang="ru-RU" b="1" dirty="0" err="1"/>
              <a:t>tanh</a:t>
            </a:r>
            <a:r>
              <a:rPr lang="ru-RU" b="1" dirty="0"/>
              <a:t>(</a:t>
            </a:r>
            <a:r>
              <a:rPr lang="en-US" b="1" dirty="0"/>
              <a:t>C</a:t>
            </a:r>
            <a:r>
              <a:rPr lang="ru-RU" b="1" dirty="0"/>
              <a:t>ₜ)</a:t>
            </a:r>
            <a:endParaRPr lang="ru-RU" dirty="0"/>
          </a:p>
          <a:p>
            <a:r>
              <a:rPr lang="ru-RU" dirty="0"/>
              <a:t>⊙ — поэлементное умножение</a:t>
            </a:r>
          </a:p>
          <a:p>
            <a:r>
              <a:rPr lang="ru-RU" dirty="0"/>
              <a:t>Смысл: память = (что оставили) + (что добавили)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101F12-6934-D58F-B81F-17DB2291F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094" y="3429000"/>
            <a:ext cx="6434187" cy="3321999"/>
          </a:xfrm>
          <a:prstGeom prst="rect">
            <a:avLst/>
          </a:prstGeom>
        </p:spPr>
      </p:pic>
      <p:pic>
        <p:nvPicPr>
          <p:cNvPr id="1036" name="Picture 12" descr="Image of sigmoid vs tanh functions">
            <a:extLst>
              <a:ext uri="{FF2B5EF4-FFF2-40B4-BE49-F238E27FC236}">
                <a16:creationId xmlns:a16="http://schemas.microsoft.com/office/drawing/2014/main" id="{0CB5C654-5E35-C1FC-2A4B-1243A07B7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1787"/>
            <a:ext cx="5314948" cy="295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97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D02A5D-89CA-9E14-D7D8-11E2AB401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Держит длинный контекст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Решает проблему затухающего градиента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Гибкое управление памятью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Хорошо работает с временными рядами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DC2B73-329B-185E-3150-3BD9AB29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</a:t>
            </a:r>
            <a:r>
              <a:rPr lang="en-US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288577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AF41-513F-F763-F3A8-44A6C1DCB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D59FDB-3CF3-E141-5F40-38DF37D000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699" y="1960775"/>
            <a:ext cx="7810499" cy="3898157"/>
          </a:xfrm>
        </p:spPr>
        <p:txBody>
          <a:bodyPr/>
          <a:lstStyle/>
          <a:p>
            <a:r>
              <a:rPr lang="ru-RU" dirty="0"/>
              <a:t>Медленные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dirty="0"/>
              <a:t>Много матричных операций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dirty="0"/>
              <a:t>Последовательное вычисление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Плохо масштабируются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Сложнее обучать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dirty="0"/>
              <a:t>больше параметров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dirty="0"/>
              <a:t>чувствительность к </a:t>
            </a:r>
            <a:r>
              <a:rPr lang="ru-RU" dirty="0" err="1"/>
              <a:t>гиперпараметрам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dirty="0"/>
              <a:t>легко переобучаются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C62707-71C3-DAE7-0920-9623A14AE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Минусы </a:t>
            </a:r>
            <a:r>
              <a:rPr lang="en-US" dirty="0"/>
              <a:t>LSTM</a:t>
            </a:r>
          </a:p>
        </p:txBody>
      </p:sp>
    </p:spTree>
    <p:extLst>
      <p:ext uri="{BB962C8B-B14F-4D97-AF65-F5344CB8AC3E}">
        <p14:creationId xmlns:p14="http://schemas.microsoft.com/office/powerpoint/2010/main" val="2896097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91B00-2D81-3048-8AFF-1F5A3E8A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 rtlCol="0"/>
          <a:lstStyle/>
          <a:p>
            <a:r>
              <a:rPr lang="ru-RU" dirty="0"/>
              <a:t>Где применяется </a:t>
            </a:r>
            <a:r>
              <a:rPr lang="en-US" dirty="0"/>
              <a:t>LSTM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A9E950-ECF8-DB4D-B92A-ADA2E6031E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5154384" cy="3098212"/>
          </a:xfrm>
        </p:spPr>
        <p:txBody>
          <a:bodyPr rtlCol="0"/>
          <a:lstStyle/>
          <a:p>
            <a:pPr lvl="1"/>
            <a:r>
              <a:rPr lang="ru-RU" b="1" dirty="0"/>
              <a:t>NLP</a:t>
            </a:r>
            <a:r>
              <a:rPr lang="ru-RU" dirty="0"/>
              <a:t> (моделирование текста, классификация)</a:t>
            </a:r>
          </a:p>
          <a:p>
            <a:pPr lvl="1"/>
            <a:r>
              <a:rPr lang="ru-RU" b="1" dirty="0"/>
              <a:t>Временные ряды</a:t>
            </a:r>
            <a:r>
              <a:rPr lang="ru-RU" dirty="0"/>
              <a:t> (прогноз, аномалии)</a:t>
            </a:r>
          </a:p>
          <a:p>
            <a:pPr lvl="1"/>
            <a:r>
              <a:rPr lang="ru-RU" b="1" dirty="0"/>
              <a:t>Речь/сигналы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182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67F85-B014-E54D-AC82-A789515E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510" y="2469823"/>
            <a:ext cx="4876800" cy="2181680"/>
          </a:xfrm>
        </p:spPr>
        <p:txBody>
          <a:bodyPr rtlCol="0"/>
          <a:lstStyle/>
          <a:p>
            <a:pPr rtl="0"/>
            <a:r>
              <a:rPr lang="ru-RU" sz="6000" dirty="0"/>
              <a:t>Спасибо</a:t>
            </a:r>
            <a:r>
              <a:rPr lang="en-US" sz="6000" dirty="0"/>
              <a:t> </a:t>
            </a:r>
            <a:r>
              <a:rPr lang="ru-RU" sz="6000" dirty="0"/>
              <a:t>за внимание</a:t>
            </a:r>
          </a:p>
        </p:txBody>
      </p:sp>
      <p:pic>
        <p:nvPicPr>
          <p:cNvPr id="7" name="Рисунок 6" descr="Дартс (белого цвета)">
            <a:extLst>
              <a:ext uri="{FF2B5EF4-FFF2-40B4-BE49-F238E27FC236}">
                <a16:creationId xmlns:a16="http://schemas.microsoft.com/office/drawing/2014/main" id="{8A7A839A-FCAC-2F45-B138-DD0DC7C61F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432356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" id="{44541DF4-21D6-4F7A-B904-007D7865A971}" vid="{47A233BE-44D9-439C-9A9E-AF9EA0822AE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D363B3-DC66-45B9-8B2A-DA220F5DD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49A8C3-21EC-4C35-871F-CCC7148089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1B53F0-FE0E-4C4C-84FF-93580062270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TM89547415</Template>
  <TotalTime>180</TotalTime>
  <Words>228</Words>
  <Application>Microsoft Office PowerPoint</Application>
  <PresentationFormat>Widescreen</PresentationFormat>
  <Paragraphs>49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Nova</vt:lpstr>
      <vt:lpstr>Calibri</vt:lpstr>
      <vt:lpstr>Cambria Math</vt:lpstr>
      <vt:lpstr>Wingdings</vt:lpstr>
      <vt:lpstr>Тема 1</vt:lpstr>
      <vt:lpstr>Архитектура LSTM</vt:lpstr>
      <vt:lpstr>Что такое LSTM и зачем она нужна</vt:lpstr>
      <vt:lpstr>Вентили (gates)</vt:lpstr>
      <vt:lpstr>Формулы обновления</vt:lpstr>
      <vt:lpstr>Плюсы LSTM</vt:lpstr>
      <vt:lpstr>Минусы LSTM</vt:lpstr>
      <vt:lpstr>Где применяется LSTM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zzz zzz</dc:creator>
  <cp:lastModifiedBy>zzz zzz</cp:lastModifiedBy>
  <cp:revision>20</cp:revision>
  <dcterms:created xsi:type="dcterms:W3CDTF">2026-04-19T07:06:20Z</dcterms:created>
  <dcterms:modified xsi:type="dcterms:W3CDTF">2026-04-27T16:21:50Z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